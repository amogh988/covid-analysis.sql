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rachason Neue Expanded Bold" charset="1" panose="00000000000000000000"/>
      <p:regular r:id="rId16"/>
    </p:embeddedFont>
    <p:embeddedFont>
      <p:font typeface="Montserrat" charset="1" panose="00000500000000000000"/>
      <p:regular r:id="rId17"/>
    </p:embeddedFont>
    <p:embeddedFont>
      <p:font typeface="Noto Serif Ethiopic Condensed" charset="1" panose="02020502060505020204"/>
      <p:regular r:id="rId18"/>
    </p:embeddedFont>
    <p:embeddedFont>
      <p:font typeface="Times New Roman MT" charset="1" panose="020305020704050203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4365964" y="6419555"/>
            <a:ext cx="10267498" cy="10267498"/>
          </a:xfrm>
          <a:custGeom>
            <a:avLst/>
            <a:gdLst/>
            <a:ahLst/>
            <a:cxnLst/>
            <a:rect r="r" b="b" t="t" l="l"/>
            <a:pathLst>
              <a:path h="10267498" w="10267498">
                <a:moveTo>
                  <a:pt x="0" y="0"/>
                </a:moveTo>
                <a:lnTo>
                  <a:pt x="10267498" y="0"/>
                </a:lnTo>
                <a:lnTo>
                  <a:pt x="10267498" y="10267498"/>
                </a:lnTo>
                <a:lnTo>
                  <a:pt x="0" y="10267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78923" y="-4676538"/>
            <a:ext cx="7309077" cy="7309077"/>
          </a:xfrm>
          <a:custGeom>
            <a:avLst/>
            <a:gdLst/>
            <a:ahLst/>
            <a:cxnLst/>
            <a:rect r="r" b="b" t="t" l="l"/>
            <a:pathLst>
              <a:path h="7309077" w="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599542" y="1028700"/>
            <a:ext cx="9088916" cy="8229600"/>
          </a:xfrm>
          <a:custGeom>
            <a:avLst/>
            <a:gdLst/>
            <a:ahLst/>
            <a:cxnLst/>
            <a:rect r="r" b="b" t="t" l="l"/>
            <a:pathLst>
              <a:path h="8229600" w="9088916">
                <a:moveTo>
                  <a:pt x="0" y="0"/>
                </a:moveTo>
                <a:lnTo>
                  <a:pt x="9088916" y="0"/>
                </a:lnTo>
                <a:lnTo>
                  <a:pt x="9088916" y="8229600"/>
                </a:lnTo>
                <a:lnTo>
                  <a:pt x="0" y="8229600"/>
                </a:lnTo>
                <a:lnTo>
                  <a:pt x="0" y="0"/>
                </a:lnTo>
                <a:close/>
              </a:path>
            </a:pathLst>
          </a:custGeom>
          <a:blipFill>
            <a:blip r:embed="rId4"/>
            <a:stretch>
              <a:fillRect l="0" t="0" r="0" b="0"/>
            </a:stretch>
          </a:blipFill>
        </p:spPr>
      </p:sp>
      <p:sp>
        <p:nvSpPr>
          <p:cNvPr name="TextBox 5" id="5"/>
          <p:cNvSpPr txBox="true"/>
          <p:nvPr/>
        </p:nvSpPr>
        <p:spPr>
          <a:xfrm rot="0">
            <a:off x="680004" y="3715056"/>
            <a:ext cx="16927991" cy="2325647"/>
          </a:xfrm>
          <a:prstGeom prst="rect">
            <a:avLst/>
          </a:prstGeom>
        </p:spPr>
        <p:txBody>
          <a:bodyPr anchor="t" rtlCol="false" tIns="0" lIns="0" bIns="0" rIns="0">
            <a:spAutoFit/>
          </a:bodyPr>
          <a:lstStyle/>
          <a:p>
            <a:pPr algn="ctr">
              <a:lnSpc>
                <a:spcPts val="12754"/>
              </a:lnSpc>
            </a:pPr>
            <a:r>
              <a:rPr lang="en-US" b="true" sz="11701">
                <a:solidFill>
                  <a:srgbClr val="DFDEE0"/>
                </a:solidFill>
                <a:latin typeface="Prachason Neue Expanded Bold"/>
                <a:ea typeface="Prachason Neue Expanded Bold"/>
                <a:cs typeface="Prachason Neue Expanded Bold"/>
                <a:sym typeface="Prachason Neue Expanded Bold"/>
              </a:rPr>
              <a:t>MY SQL PROJECT</a:t>
            </a:r>
          </a:p>
        </p:txBody>
      </p:sp>
      <p:sp>
        <p:nvSpPr>
          <p:cNvPr name="TextBox 6" id="6"/>
          <p:cNvSpPr txBox="true"/>
          <p:nvPr/>
        </p:nvSpPr>
        <p:spPr>
          <a:xfrm rot="0">
            <a:off x="1313033" y="7301389"/>
            <a:ext cx="4940930" cy="444165"/>
          </a:xfrm>
          <a:prstGeom prst="rect">
            <a:avLst/>
          </a:prstGeom>
        </p:spPr>
        <p:txBody>
          <a:bodyPr anchor="t" rtlCol="false" tIns="0" lIns="0" bIns="0" rIns="0">
            <a:spAutoFit/>
          </a:bodyPr>
          <a:lstStyle/>
          <a:p>
            <a:pPr algn="l">
              <a:lnSpc>
                <a:spcPts val="3713"/>
              </a:lnSpc>
            </a:pPr>
            <a:r>
              <a:rPr lang="en-US" sz="2509" spc="582">
                <a:solidFill>
                  <a:srgbClr val="FFFFFF"/>
                </a:solidFill>
                <a:latin typeface="Montserrat"/>
                <a:ea typeface="Montserrat"/>
                <a:cs typeface="Montserrat"/>
                <a:sym typeface="Montserrat"/>
              </a:rPr>
              <a:t>~ BY AMOGH </a:t>
            </a:r>
          </a:p>
        </p:txBody>
      </p:sp>
      <p:sp>
        <p:nvSpPr>
          <p:cNvPr name="TextBox 7" id="7"/>
          <p:cNvSpPr txBox="true"/>
          <p:nvPr/>
        </p:nvSpPr>
        <p:spPr>
          <a:xfrm rot="0">
            <a:off x="484083" y="6637708"/>
            <a:ext cx="4940930" cy="444165"/>
          </a:xfrm>
          <a:prstGeom prst="rect">
            <a:avLst/>
          </a:prstGeom>
        </p:spPr>
        <p:txBody>
          <a:bodyPr anchor="t" rtlCol="false" tIns="0" lIns="0" bIns="0" rIns="0">
            <a:spAutoFit/>
          </a:bodyPr>
          <a:lstStyle/>
          <a:p>
            <a:pPr algn="l">
              <a:lnSpc>
                <a:spcPts val="3713"/>
              </a:lnSpc>
            </a:pPr>
            <a:r>
              <a:rPr lang="en-US" sz="2509" spc="582">
                <a:solidFill>
                  <a:srgbClr val="FFFFFF"/>
                </a:solidFill>
                <a:latin typeface="Montserrat"/>
                <a:ea typeface="Montserrat"/>
                <a:cs typeface="Montserrat"/>
                <a:sym typeface="Montserrat"/>
              </a:rPr>
              <a:t>PRESENTED 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TextBox 2" id="2"/>
          <p:cNvSpPr txBox="true"/>
          <p:nvPr/>
        </p:nvSpPr>
        <p:spPr>
          <a:xfrm rot="0">
            <a:off x="9707892" y="981075"/>
            <a:ext cx="7799702" cy="3785832"/>
          </a:xfrm>
          <a:prstGeom prst="rect">
            <a:avLst/>
          </a:prstGeom>
        </p:spPr>
        <p:txBody>
          <a:bodyPr anchor="t" rtlCol="false" tIns="0" lIns="0" bIns="0" rIns="0">
            <a:spAutoFit/>
          </a:bodyPr>
          <a:lstStyle/>
          <a:p>
            <a:pPr algn="l">
              <a:lnSpc>
                <a:spcPts val="3216"/>
              </a:lnSpc>
            </a:pPr>
            <a:r>
              <a:rPr lang="en-US" sz="2297">
                <a:solidFill>
                  <a:srgbClr val="FFFFFF"/>
                </a:solidFill>
                <a:latin typeface="Noto Serif Ethiopic Condensed"/>
                <a:ea typeface="Noto Serif Ethiopic Condensed"/>
                <a:cs typeface="Noto Serif Ethiopic Condensed"/>
                <a:sym typeface="Noto Serif Ethiopic Condensed"/>
              </a:rPr>
              <a:t>MySQL is a widely used Relational Database Management System (RDBMS) that helps store, organize, and manage data in the form of tables. It uses Structured Query Language (SQL) to perform operations such as creating databases, inserting records, updating data, deleting records, and retrieving information.</a:t>
            </a:r>
          </a:p>
          <a:p>
            <a:pPr algn="l">
              <a:lnSpc>
                <a:spcPts val="3216"/>
              </a:lnSpc>
            </a:pPr>
            <a:r>
              <a:rPr lang="en-US" sz="2297">
                <a:solidFill>
                  <a:srgbClr val="FFFFFF"/>
                </a:solidFill>
                <a:latin typeface="Noto Serif Ethiopic Condensed"/>
                <a:ea typeface="Noto Serif Ethiopic Condensed"/>
                <a:cs typeface="Noto Serif Ethiopic Condensed"/>
                <a:sym typeface="Noto Serif Ethiopic Condensed"/>
              </a:rPr>
              <a:t>MySQL was developed by MySQL AB and is now owned by Oracle Corporation. It is open-source, which means it is free to use and can be modified according to user needs.</a:t>
            </a:r>
          </a:p>
          <a:p>
            <a:pPr algn="l">
              <a:lnSpc>
                <a:spcPts val="1072"/>
              </a:lnSpc>
            </a:pPr>
          </a:p>
        </p:txBody>
      </p:sp>
      <p:sp>
        <p:nvSpPr>
          <p:cNvPr name="Freeform 3" id="3"/>
          <p:cNvSpPr/>
          <p:nvPr/>
        </p:nvSpPr>
        <p:spPr>
          <a:xfrm flipH="false" flipV="false" rot="0">
            <a:off x="-347881" y="5002650"/>
            <a:ext cx="7309077" cy="7309077"/>
          </a:xfrm>
          <a:custGeom>
            <a:avLst/>
            <a:gdLst/>
            <a:ahLst/>
            <a:cxnLst/>
            <a:rect r="r" b="b" t="t" l="l"/>
            <a:pathLst>
              <a:path h="7309077" w="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740058" y="1028700"/>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38843" y="636913"/>
            <a:ext cx="7315200" cy="3843805"/>
          </a:xfrm>
          <a:custGeom>
            <a:avLst/>
            <a:gdLst/>
            <a:ahLst/>
            <a:cxnLst/>
            <a:rect r="r" b="b" t="t" l="l"/>
            <a:pathLst>
              <a:path h="3843805" w="7315200">
                <a:moveTo>
                  <a:pt x="0" y="0"/>
                </a:moveTo>
                <a:lnTo>
                  <a:pt x="7315200" y="0"/>
                </a:lnTo>
                <a:lnTo>
                  <a:pt x="7315200" y="3843805"/>
                </a:lnTo>
                <a:lnTo>
                  <a:pt x="0" y="38438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768074" y="333065"/>
            <a:ext cx="4940930" cy="531496"/>
          </a:xfrm>
          <a:prstGeom prst="rect">
            <a:avLst/>
          </a:prstGeom>
        </p:spPr>
        <p:txBody>
          <a:bodyPr anchor="t" rtlCol="false" tIns="0" lIns="0" bIns="0" rIns="0">
            <a:spAutoFit/>
          </a:bodyPr>
          <a:lstStyle/>
          <a:p>
            <a:pPr algn="r">
              <a:lnSpc>
                <a:spcPts val="4439"/>
              </a:lnSpc>
            </a:pPr>
            <a:r>
              <a:rPr lang="en-US" sz="2999" spc="695">
                <a:solidFill>
                  <a:srgbClr val="FFFFFF"/>
                </a:solidFill>
                <a:latin typeface="Montserrat"/>
                <a:ea typeface="Montserrat"/>
                <a:cs typeface="Montserrat"/>
                <a:sym typeface="Montserrat"/>
              </a:rPr>
              <a:t>INTRODUCTION</a:t>
            </a:r>
          </a:p>
        </p:txBody>
      </p:sp>
      <p:sp>
        <p:nvSpPr>
          <p:cNvPr name="TextBox 7" id="7"/>
          <p:cNvSpPr txBox="true"/>
          <p:nvPr/>
        </p:nvSpPr>
        <p:spPr>
          <a:xfrm rot="0">
            <a:off x="11411465" y="5048250"/>
            <a:ext cx="3654147" cy="659005"/>
          </a:xfrm>
          <a:prstGeom prst="rect">
            <a:avLst/>
          </a:prstGeom>
        </p:spPr>
        <p:txBody>
          <a:bodyPr anchor="t" rtlCol="false" tIns="0" lIns="0" bIns="0" rIns="0">
            <a:spAutoFit/>
          </a:bodyPr>
          <a:lstStyle/>
          <a:p>
            <a:pPr algn="l">
              <a:lnSpc>
                <a:spcPts val="5475"/>
              </a:lnSpc>
              <a:spcBef>
                <a:spcPct val="0"/>
              </a:spcBef>
            </a:pPr>
            <a:r>
              <a:rPr lang="en-US" sz="3699" spc="858">
                <a:solidFill>
                  <a:srgbClr val="FFFFFF"/>
                </a:solidFill>
                <a:latin typeface="Montserrat"/>
                <a:ea typeface="Montserrat"/>
                <a:cs typeface="Montserrat"/>
                <a:sym typeface="Montserrat"/>
              </a:rPr>
              <a:t>OBJECTIVE</a:t>
            </a:r>
          </a:p>
        </p:txBody>
      </p:sp>
      <p:sp>
        <p:nvSpPr>
          <p:cNvPr name="TextBox 8" id="8"/>
          <p:cNvSpPr txBox="true"/>
          <p:nvPr/>
        </p:nvSpPr>
        <p:spPr>
          <a:xfrm rot="0">
            <a:off x="9873563" y="6050155"/>
            <a:ext cx="6729952" cy="2343404"/>
          </a:xfrm>
          <a:prstGeom prst="rect">
            <a:avLst/>
          </a:prstGeom>
        </p:spPr>
        <p:txBody>
          <a:bodyPr anchor="t" rtlCol="false" tIns="0" lIns="0" bIns="0" rIns="0">
            <a:spAutoFit/>
          </a:bodyPr>
          <a:lstStyle/>
          <a:p>
            <a:pPr algn="l">
              <a:lnSpc>
                <a:spcPts val="2367"/>
              </a:lnSpc>
            </a:pPr>
            <a:r>
              <a:rPr lang="en-US" sz="1599" spc="371">
                <a:solidFill>
                  <a:srgbClr val="FFFFFF"/>
                </a:solidFill>
                <a:latin typeface="Montserrat"/>
                <a:ea typeface="Montserrat"/>
                <a:cs typeface="Montserrat"/>
                <a:sym typeface="Montserrat"/>
              </a:rPr>
              <a:t>THE OBJECTIVE OF THIS:</a:t>
            </a:r>
          </a:p>
          <a:p>
            <a:pPr algn="l">
              <a:lnSpc>
                <a:spcPts val="2367"/>
              </a:lnSpc>
            </a:pPr>
            <a:r>
              <a:rPr lang="en-US" sz="1599" spc="371">
                <a:solidFill>
                  <a:srgbClr val="FFFFFF"/>
                </a:solidFill>
                <a:latin typeface="Montserrat"/>
                <a:ea typeface="Montserrat"/>
                <a:cs typeface="Montserrat"/>
                <a:sym typeface="Montserrat"/>
              </a:rPr>
              <a:t>* Design a relational database in MySQL</a:t>
            </a:r>
          </a:p>
          <a:p>
            <a:pPr algn="l">
              <a:lnSpc>
                <a:spcPts val="2367"/>
              </a:lnSpc>
            </a:pPr>
            <a:r>
              <a:rPr lang="en-US" sz="1599" spc="371">
                <a:solidFill>
                  <a:srgbClr val="FFFFFF"/>
                </a:solidFill>
                <a:latin typeface="Montserrat"/>
                <a:ea typeface="Montserrat"/>
                <a:cs typeface="Montserrat"/>
                <a:sym typeface="Montserrat"/>
              </a:rPr>
              <a:t>* Create three related tables</a:t>
            </a:r>
          </a:p>
          <a:p>
            <a:pPr algn="l">
              <a:lnSpc>
                <a:spcPts val="2367"/>
              </a:lnSpc>
            </a:pPr>
            <a:r>
              <a:rPr lang="en-US" sz="1599" spc="371">
                <a:solidFill>
                  <a:srgbClr val="FFFFFF"/>
                </a:solidFill>
                <a:latin typeface="Montserrat"/>
                <a:ea typeface="Montserrat"/>
                <a:cs typeface="Montserrat"/>
                <a:sym typeface="Montserrat"/>
              </a:rPr>
              <a:t>* Insert 500 records into each table</a:t>
            </a:r>
          </a:p>
          <a:p>
            <a:pPr algn="l">
              <a:lnSpc>
                <a:spcPts val="2367"/>
              </a:lnSpc>
            </a:pPr>
            <a:r>
              <a:rPr lang="en-US" sz="1599" spc="371">
                <a:solidFill>
                  <a:srgbClr val="FFFFFF"/>
                </a:solidFill>
                <a:latin typeface="Montserrat"/>
                <a:ea typeface="Montserrat"/>
                <a:cs typeface="Montserrat"/>
                <a:sym typeface="Montserrat"/>
              </a:rPr>
              <a:t>* Perform business-oriented data analysis using SQL</a:t>
            </a:r>
          </a:p>
          <a:p>
            <a:pPr algn="l">
              <a:lnSpc>
                <a:spcPts val="2367"/>
              </a:lnSpc>
            </a:pPr>
            <a:r>
              <a:rPr lang="en-US" sz="1599" spc="371">
                <a:solidFill>
                  <a:srgbClr val="FFFFFF"/>
                </a:solidFill>
                <a:latin typeface="Montserrat"/>
                <a:ea typeface="Montserrat"/>
                <a:cs typeface="Montserrat"/>
                <a:sym typeface="Montserrat"/>
              </a:rPr>
              <a:t>* Generate insights from sales data</a:t>
            </a:r>
          </a:p>
          <a:p>
            <a:pPr algn="l">
              <a:lnSpc>
                <a:spcPts val="2367"/>
              </a:lnSpc>
              <a:spcBef>
                <a:spcPct val="0"/>
              </a:spcBef>
            </a:pPr>
          </a:p>
        </p:txBody>
      </p:sp>
      <p:sp>
        <p:nvSpPr>
          <p:cNvPr name="Freeform 9" id="9"/>
          <p:cNvSpPr/>
          <p:nvPr/>
        </p:nvSpPr>
        <p:spPr>
          <a:xfrm flipH="false" flipV="false" rot="0">
            <a:off x="1438719" y="5234284"/>
            <a:ext cx="6030542" cy="4024016"/>
          </a:xfrm>
          <a:custGeom>
            <a:avLst/>
            <a:gdLst/>
            <a:ahLst/>
            <a:cxnLst/>
            <a:rect r="r" b="b" t="t" l="l"/>
            <a:pathLst>
              <a:path h="4024016" w="6030542">
                <a:moveTo>
                  <a:pt x="0" y="0"/>
                </a:moveTo>
                <a:lnTo>
                  <a:pt x="6030541" y="0"/>
                </a:lnTo>
                <a:lnTo>
                  <a:pt x="6030541" y="4024016"/>
                </a:lnTo>
                <a:lnTo>
                  <a:pt x="0" y="4024016"/>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8869816" y="1639334"/>
            <a:ext cx="7827641" cy="809774"/>
          </a:xfrm>
          <a:custGeom>
            <a:avLst/>
            <a:gdLst/>
            <a:ahLst/>
            <a:cxnLst/>
            <a:rect r="r" b="b" t="t" l="l"/>
            <a:pathLst>
              <a:path h="809774" w="7827641">
                <a:moveTo>
                  <a:pt x="0" y="0"/>
                </a:moveTo>
                <a:lnTo>
                  <a:pt x="7827642" y="0"/>
                </a:lnTo>
                <a:lnTo>
                  <a:pt x="7827642" y="809774"/>
                </a:lnTo>
                <a:lnTo>
                  <a:pt x="0" y="809774"/>
                </a:lnTo>
                <a:lnTo>
                  <a:pt x="0" y="0"/>
                </a:lnTo>
                <a:close/>
              </a:path>
            </a:pathLst>
          </a:custGeom>
          <a:blipFill>
            <a:blip r:embed="rId2"/>
            <a:stretch>
              <a:fillRect l="0" t="0" r="0" b="-27469"/>
            </a:stretch>
          </a:blipFill>
        </p:spPr>
      </p:sp>
      <p:sp>
        <p:nvSpPr>
          <p:cNvPr name="Freeform 3" id="3"/>
          <p:cNvSpPr/>
          <p:nvPr/>
        </p:nvSpPr>
        <p:spPr>
          <a:xfrm flipH="false" flipV="false" rot="0">
            <a:off x="7055872" y="3977717"/>
            <a:ext cx="10768818" cy="2331566"/>
          </a:xfrm>
          <a:custGeom>
            <a:avLst/>
            <a:gdLst/>
            <a:ahLst/>
            <a:cxnLst/>
            <a:rect r="r" b="b" t="t" l="l"/>
            <a:pathLst>
              <a:path h="2331566" w="10768818">
                <a:moveTo>
                  <a:pt x="0" y="0"/>
                </a:moveTo>
                <a:lnTo>
                  <a:pt x="10768818" y="0"/>
                </a:lnTo>
                <a:lnTo>
                  <a:pt x="10768818" y="2331566"/>
                </a:lnTo>
                <a:lnTo>
                  <a:pt x="0" y="2331566"/>
                </a:lnTo>
                <a:lnTo>
                  <a:pt x="0" y="0"/>
                </a:lnTo>
                <a:close/>
              </a:path>
            </a:pathLst>
          </a:custGeom>
          <a:blipFill>
            <a:blip r:embed="rId3"/>
            <a:stretch>
              <a:fillRect l="0" t="0" r="0" b="0"/>
            </a:stretch>
          </a:blipFill>
        </p:spPr>
      </p:sp>
      <p:sp>
        <p:nvSpPr>
          <p:cNvPr name="Freeform 4" id="4"/>
          <p:cNvSpPr/>
          <p:nvPr/>
        </p:nvSpPr>
        <p:spPr>
          <a:xfrm flipH="false" flipV="false" rot="0">
            <a:off x="1480954" y="5143500"/>
            <a:ext cx="4204213" cy="4701546"/>
          </a:xfrm>
          <a:custGeom>
            <a:avLst/>
            <a:gdLst/>
            <a:ahLst/>
            <a:cxnLst/>
            <a:rect r="r" b="b" t="t" l="l"/>
            <a:pathLst>
              <a:path h="4701546" w="4204213">
                <a:moveTo>
                  <a:pt x="0" y="0"/>
                </a:moveTo>
                <a:lnTo>
                  <a:pt x="4204213" y="0"/>
                </a:lnTo>
                <a:lnTo>
                  <a:pt x="4204213" y="4701546"/>
                </a:lnTo>
                <a:lnTo>
                  <a:pt x="0" y="4701546"/>
                </a:lnTo>
                <a:lnTo>
                  <a:pt x="0" y="0"/>
                </a:lnTo>
                <a:close/>
              </a:path>
            </a:pathLst>
          </a:custGeom>
          <a:blipFill>
            <a:blip r:embed="rId4"/>
            <a:stretch>
              <a:fillRect l="0" t="0" r="-744" b="0"/>
            </a:stretch>
          </a:blipFill>
        </p:spPr>
      </p:sp>
      <p:sp>
        <p:nvSpPr>
          <p:cNvPr name="TextBox 5" id="5"/>
          <p:cNvSpPr txBox="true"/>
          <p:nvPr/>
        </p:nvSpPr>
        <p:spPr>
          <a:xfrm rot="0">
            <a:off x="9290148" y="574294"/>
            <a:ext cx="7827641" cy="842138"/>
          </a:xfrm>
          <a:prstGeom prst="rect">
            <a:avLst/>
          </a:prstGeom>
        </p:spPr>
        <p:txBody>
          <a:bodyPr anchor="t" rtlCol="false" tIns="0" lIns="0" bIns="0" rIns="0">
            <a:spAutoFit/>
          </a:bodyPr>
          <a:lstStyle/>
          <a:p>
            <a:pPr algn="ctr">
              <a:lnSpc>
                <a:spcPts val="3403"/>
              </a:lnSpc>
              <a:spcBef>
                <a:spcPct val="0"/>
              </a:spcBef>
            </a:pPr>
            <a:r>
              <a:rPr lang="en-US" sz="2299" spc="533">
                <a:solidFill>
                  <a:srgbClr val="FFFFFF"/>
                </a:solidFill>
                <a:latin typeface="Noto Serif Ethiopic Condensed"/>
                <a:ea typeface="Noto Serif Ethiopic Condensed"/>
                <a:cs typeface="Noto Serif Ethiopic Condensed"/>
                <a:sym typeface="Noto Serif Ethiopic Condensed"/>
              </a:rPr>
              <a:t>QUERY TO ACCESS CSV FILE IMPORTED IN SSML</a:t>
            </a:r>
          </a:p>
        </p:txBody>
      </p:sp>
      <p:sp>
        <p:nvSpPr>
          <p:cNvPr name="TextBox 6" id="6"/>
          <p:cNvSpPr txBox="true"/>
          <p:nvPr/>
        </p:nvSpPr>
        <p:spPr>
          <a:xfrm rot="0">
            <a:off x="8294627" y="3200008"/>
            <a:ext cx="7827641" cy="413513"/>
          </a:xfrm>
          <a:prstGeom prst="rect">
            <a:avLst/>
          </a:prstGeom>
        </p:spPr>
        <p:txBody>
          <a:bodyPr anchor="t" rtlCol="false" tIns="0" lIns="0" bIns="0" rIns="0">
            <a:spAutoFit/>
          </a:bodyPr>
          <a:lstStyle/>
          <a:p>
            <a:pPr algn="ctr">
              <a:lnSpc>
                <a:spcPts val="3403"/>
              </a:lnSpc>
              <a:spcBef>
                <a:spcPct val="0"/>
              </a:spcBef>
            </a:pPr>
            <a:r>
              <a:rPr lang="en-US" sz="2299" spc="533">
                <a:solidFill>
                  <a:srgbClr val="FFFFFF"/>
                </a:solidFill>
                <a:latin typeface="Noto Serif Ethiopic Condensed"/>
                <a:ea typeface="Noto Serif Ethiopic Condensed"/>
                <a:cs typeface="Noto Serif Ethiopic Condensed"/>
                <a:sym typeface="Noto Serif Ethiopic Condensed"/>
              </a:rPr>
              <a:t>QUERIES TO SOLVE WITH THEIR OUTPUT</a:t>
            </a:r>
          </a:p>
        </p:txBody>
      </p:sp>
      <p:sp>
        <p:nvSpPr>
          <p:cNvPr name="AutoShape 7" id="7"/>
          <p:cNvSpPr/>
          <p:nvPr/>
        </p:nvSpPr>
        <p:spPr>
          <a:xfrm flipH="true">
            <a:off x="5964110" y="6159772"/>
            <a:ext cx="1091762" cy="1334502"/>
          </a:xfrm>
          <a:prstGeom prst="line">
            <a:avLst/>
          </a:prstGeom>
          <a:ln cap="flat" w="66675">
            <a:solidFill>
              <a:srgbClr val="FBFBFB"/>
            </a:solidFill>
            <a:prstDash val="solid"/>
            <a:headEnd type="none" len="sm" w="sm"/>
            <a:tailEnd type="triangle" len="med" w="lg"/>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838758" y="533589"/>
            <a:ext cx="8868348" cy="2143314"/>
          </a:xfrm>
          <a:custGeom>
            <a:avLst/>
            <a:gdLst/>
            <a:ahLst/>
            <a:cxnLst/>
            <a:rect r="r" b="b" t="t" l="l"/>
            <a:pathLst>
              <a:path h="2143314" w="8868348">
                <a:moveTo>
                  <a:pt x="0" y="0"/>
                </a:moveTo>
                <a:lnTo>
                  <a:pt x="8868349" y="0"/>
                </a:lnTo>
                <a:lnTo>
                  <a:pt x="8868349" y="2143313"/>
                </a:lnTo>
                <a:lnTo>
                  <a:pt x="0" y="2143313"/>
                </a:lnTo>
                <a:lnTo>
                  <a:pt x="0" y="0"/>
                </a:lnTo>
                <a:close/>
              </a:path>
            </a:pathLst>
          </a:custGeom>
          <a:blipFill>
            <a:blip r:embed="rId2"/>
            <a:stretch>
              <a:fillRect l="0" t="0" r="0" b="0"/>
            </a:stretch>
          </a:blipFill>
        </p:spPr>
      </p:sp>
      <p:sp>
        <p:nvSpPr>
          <p:cNvPr name="Freeform 3" id="3"/>
          <p:cNvSpPr/>
          <p:nvPr/>
        </p:nvSpPr>
        <p:spPr>
          <a:xfrm flipH="false" flipV="false" rot="0">
            <a:off x="11900104" y="533589"/>
            <a:ext cx="4603421" cy="1777270"/>
          </a:xfrm>
          <a:custGeom>
            <a:avLst/>
            <a:gdLst/>
            <a:ahLst/>
            <a:cxnLst/>
            <a:rect r="r" b="b" t="t" l="l"/>
            <a:pathLst>
              <a:path h="1777270" w="4603421">
                <a:moveTo>
                  <a:pt x="0" y="0"/>
                </a:moveTo>
                <a:lnTo>
                  <a:pt x="4603421" y="0"/>
                </a:lnTo>
                <a:lnTo>
                  <a:pt x="4603421" y="1777270"/>
                </a:lnTo>
                <a:lnTo>
                  <a:pt x="0" y="1777270"/>
                </a:lnTo>
                <a:lnTo>
                  <a:pt x="0" y="0"/>
                </a:lnTo>
                <a:close/>
              </a:path>
            </a:pathLst>
          </a:custGeom>
          <a:blipFill>
            <a:blip r:embed="rId3"/>
            <a:stretch>
              <a:fillRect l="0" t="0" r="0" b="0"/>
            </a:stretch>
          </a:blipFill>
        </p:spPr>
      </p:sp>
      <p:sp>
        <p:nvSpPr>
          <p:cNvPr name="AutoShape 4" id="4"/>
          <p:cNvSpPr/>
          <p:nvPr/>
        </p:nvSpPr>
        <p:spPr>
          <a:xfrm flipV="true">
            <a:off x="9707107" y="1638583"/>
            <a:ext cx="1724192" cy="0"/>
          </a:xfrm>
          <a:prstGeom prst="line">
            <a:avLst/>
          </a:prstGeom>
          <a:ln cap="flat" w="66675">
            <a:solidFill>
              <a:srgbClr val="FBFBFB"/>
            </a:solidFill>
            <a:prstDash val="solid"/>
            <a:headEnd type="none" len="sm" w="sm"/>
            <a:tailEnd type="triangle" len="med" w="lg"/>
          </a:ln>
        </p:spPr>
      </p:sp>
      <p:sp>
        <p:nvSpPr>
          <p:cNvPr name="Freeform 5" id="5"/>
          <p:cNvSpPr/>
          <p:nvPr/>
        </p:nvSpPr>
        <p:spPr>
          <a:xfrm flipH="false" flipV="false" rot="0">
            <a:off x="838758" y="3753474"/>
            <a:ext cx="8804732" cy="2381046"/>
          </a:xfrm>
          <a:custGeom>
            <a:avLst/>
            <a:gdLst/>
            <a:ahLst/>
            <a:cxnLst/>
            <a:rect r="r" b="b" t="t" l="l"/>
            <a:pathLst>
              <a:path h="2381046" w="8804732">
                <a:moveTo>
                  <a:pt x="0" y="0"/>
                </a:moveTo>
                <a:lnTo>
                  <a:pt x="8804733" y="0"/>
                </a:lnTo>
                <a:lnTo>
                  <a:pt x="8804733" y="2381046"/>
                </a:lnTo>
                <a:lnTo>
                  <a:pt x="0" y="2381046"/>
                </a:lnTo>
                <a:lnTo>
                  <a:pt x="0" y="0"/>
                </a:lnTo>
                <a:close/>
              </a:path>
            </a:pathLst>
          </a:custGeom>
          <a:blipFill>
            <a:blip r:embed="rId4"/>
            <a:stretch>
              <a:fillRect l="0" t="0" r="0" b="0"/>
            </a:stretch>
          </a:blipFill>
        </p:spPr>
      </p:sp>
      <p:sp>
        <p:nvSpPr>
          <p:cNvPr name="Freeform 6" id="6"/>
          <p:cNvSpPr/>
          <p:nvPr/>
        </p:nvSpPr>
        <p:spPr>
          <a:xfrm flipH="false" flipV="false" rot="0">
            <a:off x="12102125" y="2612534"/>
            <a:ext cx="3754032" cy="3677419"/>
          </a:xfrm>
          <a:custGeom>
            <a:avLst/>
            <a:gdLst/>
            <a:ahLst/>
            <a:cxnLst/>
            <a:rect r="r" b="b" t="t" l="l"/>
            <a:pathLst>
              <a:path h="3677419" w="3754032">
                <a:moveTo>
                  <a:pt x="0" y="0"/>
                </a:moveTo>
                <a:lnTo>
                  <a:pt x="3754032" y="0"/>
                </a:lnTo>
                <a:lnTo>
                  <a:pt x="3754032" y="3677418"/>
                </a:lnTo>
                <a:lnTo>
                  <a:pt x="0" y="3677418"/>
                </a:lnTo>
                <a:lnTo>
                  <a:pt x="0" y="0"/>
                </a:lnTo>
                <a:close/>
              </a:path>
            </a:pathLst>
          </a:custGeom>
          <a:blipFill>
            <a:blip r:embed="rId5"/>
            <a:stretch>
              <a:fillRect l="0" t="0" r="0" b="0"/>
            </a:stretch>
          </a:blipFill>
        </p:spPr>
      </p:sp>
      <p:sp>
        <p:nvSpPr>
          <p:cNvPr name="AutoShape 7" id="7"/>
          <p:cNvSpPr/>
          <p:nvPr/>
        </p:nvSpPr>
        <p:spPr>
          <a:xfrm flipV="true">
            <a:off x="9643491" y="4910659"/>
            <a:ext cx="1724192" cy="0"/>
          </a:xfrm>
          <a:prstGeom prst="line">
            <a:avLst/>
          </a:prstGeom>
          <a:ln cap="flat" w="66675">
            <a:solidFill>
              <a:srgbClr val="FBFBFB"/>
            </a:solidFill>
            <a:prstDash val="solid"/>
            <a:headEnd type="none" len="sm" w="sm"/>
            <a:tailEnd type="triangle" len="med" w="lg"/>
          </a:ln>
        </p:spPr>
      </p:sp>
      <p:sp>
        <p:nvSpPr>
          <p:cNvPr name="Freeform 8" id="8"/>
          <p:cNvSpPr/>
          <p:nvPr/>
        </p:nvSpPr>
        <p:spPr>
          <a:xfrm flipH="false" flipV="false" rot="0">
            <a:off x="663376" y="6914824"/>
            <a:ext cx="9182994" cy="2474849"/>
          </a:xfrm>
          <a:custGeom>
            <a:avLst/>
            <a:gdLst/>
            <a:ahLst/>
            <a:cxnLst/>
            <a:rect r="r" b="b" t="t" l="l"/>
            <a:pathLst>
              <a:path h="2474849" w="9182994">
                <a:moveTo>
                  <a:pt x="0" y="0"/>
                </a:moveTo>
                <a:lnTo>
                  <a:pt x="9182994" y="0"/>
                </a:lnTo>
                <a:lnTo>
                  <a:pt x="9182994" y="2474850"/>
                </a:lnTo>
                <a:lnTo>
                  <a:pt x="0" y="2474850"/>
                </a:lnTo>
                <a:lnTo>
                  <a:pt x="0" y="0"/>
                </a:lnTo>
                <a:close/>
              </a:path>
            </a:pathLst>
          </a:custGeom>
          <a:blipFill>
            <a:blip r:embed="rId6"/>
            <a:stretch>
              <a:fillRect l="0" t="0" r="0" b="0"/>
            </a:stretch>
          </a:blipFill>
        </p:spPr>
      </p:sp>
      <p:sp>
        <p:nvSpPr>
          <p:cNvPr name="Freeform 9" id="9"/>
          <p:cNvSpPr/>
          <p:nvPr/>
        </p:nvSpPr>
        <p:spPr>
          <a:xfrm flipH="false" flipV="false" rot="0">
            <a:off x="12102125" y="6594752"/>
            <a:ext cx="3295086" cy="3528931"/>
          </a:xfrm>
          <a:custGeom>
            <a:avLst/>
            <a:gdLst/>
            <a:ahLst/>
            <a:cxnLst/>
            <a:rect r="r" b="b" t="t" l="l"/>
            <a:pathLst>
              <a:path h="3528931" w="3295086">
                <a:moveTo>
                  <a:pt x="0" y="0"/>
                </a:moveTo>
                <a:lnTo>
                  <a:pt x="3295086" y="0"/>
                </a:lnTo>
                <a:lnTo>
                  <a:pt x="3295086" y="3528931"/>
                </a:lnTo>
                <a:lnTo>
                  <a:pt x="0" y="3528931"/>
                </a:lnTo>
                <a:lnTo>
                  <a:pt x="0" y="0"/>
                </a:lnTo>
                <a:close/>
              </a:path>
            </a:pathLst>
          </a:custGeom>
          <a:blipFill>
            <a:blip r:embed="rId7"/>
            <a:stretch>
              <a:fillRect l="0" t="0" r="0" b="0"/>
            </a:stretch>
          </a:blipFill>
        </p:spPr>
      </p:sp>
      <p:sp>
        <p:nvSpPr>
          <p:cNvPr name="AutoShape 10" id="10"/>
          <p:cNvSpPr/>
          <p:nvPr/>
        </p:nvSpPr>
        <p:spPr>
          <a:xfrm>
            <a:off x="9846370" y="8118912"/>
            <a:ext cx="1724192" cy="0"/>
          </a:xfrm>
          <a:prstGeom prst="line">
            <a:avLst/>
          </a:prstGeom>
          <a:ln cap="flat" w="66675">
            <a:solidFill>
              <a:srgbClr val="FBFBFB"/>
            </a:solidFill>
            <a:prstDash val="solid"/>
            <a:headEnd type="none" len="sm" w="sm"/>
            <a:tailEnd type="triangle" len="med" w="lg"/>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324336" y="492720"/>
            <a:ext cx="9214598" cy="1993362"/>
          </a:xfrm>
          <a:custGeom>
            <a:avLst/>
            <a:gdLst/>
            <a:ahLst/>
            <a:cxnLst/>
            <a:rect r="r" b="b" t="t" l="l"/>
            <a:pathLst>
              <a:path h="1993362" w="9214598">
                <a:moveTo>
                  <a:pt x="0" y="0"/>
                </a:moveTo>
                <a:lnTo>
                  <a:pt x="9214598" y="0"/>
                </a:lnTo>
                <a:lnTo>
                  <a:pt x="9214598" y="1993362"/>
                </a:lnTo>
                <a:lnTo>
                  <a:pt x="0" y="1993362"/>
                </a:lnTo>
                <a:lnTo>
                  <a:pt x="0" y="0"/>
                </a:lnTo>
                <a:close/>
              </a:path>
            </a:pathLst>
          </a:custGeom>
          <a:blipFill>
            <a:blip r:embed="rId2"/>
            <a:stretch>
              <a:fillRect l="0" t="0" r="0" b="0"/>
            </a:stretch>
          </a:blipFill>
        </p:spPr>
      </p:sp>
      <p:sp>
        <p:nvSpPr>
          <p:cNvPr name="Freeform 3" id="3"/>
          <p:cNvSpPr/>
          <p:nvPr/>
        </p:nvSpPr>
        <p:spPr>
          <a:xfrm flipH="false" flipV="false" rot="0">
            <a:off x="11322626" y="755186"/>
            <a:ext cx="5731779" cy="931611"/>
          </a:xfrm>
          <a:custGeom>
            <a:avLst/>
            <a:gdLst/>
            <a:ahLst/>
            <a:cxnLst/>
            <a:rect r="r" b="b" t="t" l="l"/>
            <a:pathLst>
              <a:path h="931611" w="5731779">
                <a:moveTo>
                  <a:pt x="0" y="0"/>
                </a:moveTo>
                <a:lnTo>
                  <a:pt x="5731778" y="0"/>
                </a:lnTo>
                <a:lnTo>
                  <a:pt x="5731778" y="931611"/>
                </a:lnTo>
                <a:lnTo>
                  <a:pt x="0" y="931611"/>
                </a:lnTo>
                <a:lnTo>
                  <a:pt x="0" y="0"/>
                </a:lnTo>
                <a:close/>
              </a:path>
            </a:pathLst>
          </a:custGeom>
          <a:blipFill>
            <a:blip r:embed="rId3"/>
            <a:stretch>
              <a:fillRect l="0" t="0" r="0" b="0"/>
            </a:stretch>
          </a:blipFill>
        </p:spPr>
      </p:sp>
      <p:sp>
        <p:nvSpPr>
          <p:cNvPr name="AutoShape 4" id="4"/>
          <p:cNvSpPr/>
          <p:nvPr/>
        </p:nvSpPr>
        <p:spPr>
          <a:xfrm flipV="true">
            <a:off x="9538934" y="1254329"/>
            <a:ext cx="1724192" cy="0"/>
          </a:xfrm>
          <a:prstGeom prst="line">
            <a:avLst/>
          </a:prstGeom>
          <a:ln cap="flat" w="66675">
            <a:solidFill>
              <a:srgbClr val="FBFBFB"/>
            </a:solidFill>
            <a:prstDash val="solid"/>
            <a:headEnd type="none" len="sm" w="sm"/>
            <a:tailEnd type="triangle" len="med" w="lg"/>
          </a:ln>
        </p:spPr>
      </p:sp>
      <p:sp>
        <p:nvSpPr>
          <p:cNvPr name="Freeform 5" id="5"/>
          <p:cNvSpPr/>
          <p:nvPr/>
        </p:nvSpPr>
        <p:spPr>
          <a:xfrm flipH="false" flipV="false" rot="0">
            <a:off x="324336" y="3150686"/>
            <a:ext cx="8819664" cy="2588629"/>
          </a:xfrm>
          <a:custGeom>
            <a:avLst/>
            <a:gdLst/>
            <a:ahLst/>
            <a:cxnLst/>
            <a:rect r="r" b="b" t="t" l="l"/>
            <a:pathLst>
              <a:path h="2588629" w="8819664">
                <a:moveTo>
                  <a:pt x="0" y="0"/>
                </a:moveTo>
                <a:lnTo>
                  <a:pt x="8819664" y="0"/>
                </a:lnTo>
                <a:lnTo>
                  <a:pt x="8819664" y="2588628"/>
                </a:lnTo>
                <a:lnTo>
                  <a:pt x="0" y="2588628"/>
                </a:lnTo>
                <a:lnTo>
                  <a:pt x="0" y="0"/>
                </a:lnTo>
                <a:close/>
              </a:path>
            </a:pathLst>
          </a:custGeom>
          <a:blipFill>
            <a:blip r:embed="rId4"/>
            <a:stretch>
              <a:fillRect l="0" t="0" r="0" b="0"/>
            </a:stretch>
          </a:blipFill>
        </p:spPr>
      </p:sp>
      <p:sp>
        <p:nvSpPr>
          <p:cNvPr name="Freeform 6" id="6"/>
          <p:cNvSpPr/>
          <p:nvPr/>
        </p:nvSpPr>
        <p:spPr>
          <a:xfrm flipH="false" flipV="false" rot="0">
            <a:off x="10869380" y="2486082"/>
            <a:ext cx="6638270" cy="3713114"/>
          </a:xfrm>
          <a:custGeom>
            <a:avLst/>
            <a:gdLst/>
            <a:ahLst/>
            <a:cxnLst/>
            <a:rect r="r" b="b" t="t" l="l"/>
            <a:pathLst>
              <a:path h="3713114" w="6638270">
                <a:moveTo>
                  <a:pt x="0" y="0"/>
                </a:moveTo>
                <a:lnTo>
                  <a:pt x="6638270" y="0"/>
                </a:lnTo>
                <a:lnTo>
                  <a:pt x="6638270" y="3713114"/>
                </a:lnTo>
                <a:lnTo>
                  <a:pt x="0" y="3713114"/>
                </a:lnTo>
                <a:lnTo>
                  <a:pt x="0" y="0"/>
                </a:lnTo>
                <a:close/>
              </a:path>
            </a:pathLst>
          </a:custGeom>
          <a:blipFill>
            <a:blip r:embed="rId5"/>
            <a:stretch>
              <a:fillRect l="0" t="0" r="0" b="0"/>
            </a:stretch>
          </a:blipFill>
        </p:spPr>
      </p:sp>
      <p:sp>
        <p:nvSpPr>
          <p:cNvPr name="AutoShape 7" id="7"/>
          <p:cNvSpPr/>
          <p:nvPr/>
        </p:nvSpPr>
        <p:spPr>
          <a:xfrm>
            <a:off x="8950323" y="4478337"/>
            <a:ext cx="1450708" cy="0"/>
          </a:xfrm>
          <a:prstGeom prst="line">
            <a:avLst/>
          </a:prstGeom>
          <a:ln cap="flat" w="66675">
            <a:solidFill>
              <a:srgbClr val="FBFBFB"/>
            </a:solidFill>
            <a:prstDash val="solid"/>
            <a:headEnd type="none" len="sm" w="sm"/>
            <a:tailEnd type="triangle" len="med" w="lg"/>
          </a:ln>
        </p:spPr>
      </p:sp>
      <p:sp>
        <p:nvSpPr>
          <p:cNvPr name="Freeform 8" id="8"/>
          <p:cNvSpPr/>
          <p:nvPr/>
        </p:nvSpPr>
        <p:spPr>
          <a:xfrm flipH="false" flipV="false" rot="0">
            <a:off x="244900" y="6406064"/>
            <a:ext cx="9373470" cy="1983046"/>
          </a:xfrm>
          <a:custGeom>
            <a:avLst/>
            <a:gdLst/>
            <a:ahLst/>
            <a:cxnLst/>
            <a:rect r="r" b="b" t="t" l="l"/>
            <a:pathLst>
              <a:path h="1983046" w="9373470">
                <a:moveTo>
                  <a:pt x="0" y="0"/>
                </a:moveTo>
                <a:lnTo>
                  <a:pt x="9373470" y="0"/>
                </a:lnTo>
                <a:lnTo>
                  <a:pt x="9373470" y="1983046"/>
                </a:lnTo>
                <a:lnTo>
                  <a:pt x="0" y="1983046"/>
                </a:lnTo>
                <a:lnTo>
                  <a:pt x="0" y="0"/>
                </a:lnTo>
                <a:close/>
              </a:path>
            </a:pathLst>
          </a:custGeom>
          <a:blipFill>
            <a:blip r:embed="rId6"/>
            <a:stretch>
              <a:fillRect l="0" t="0" r="0" b="0"/>
            </a:stretch>
          </a:blipFill>
        </p:spPr>
      </p:sp>
      <p:sp>
        <p:nvSpPr>
          <p:cNvPr name="AutoShape 9" id="9"/>
          <p:cNvSpPr/>
          <p:nvPr/>
        </p:nvSpPr>
        <p:spPr>
          <a:xfrm flipV="true">
            <a:off x="9538934" y="7364250"/>
            <a:ext cx="1724192" cy="0"/>
          </a:xfrm>
          <a:prstGeom prst="line">
            <a:avLst/>
          </a:prstGeom>
          <a:ln cap="flat" w="66675">
            <a:solidFill>
              <a:srgbClr val="FBFBFB"/>
            </a:solidFill>
            <a:prstDash val="solid"/>
            <a:headEnd type="none" len="sm" w="sm"/>
            <a:tailEnd type="triangle" len="med" w="lg"/>
          </a:ln>
        </p:spPr>
      </p:sp>
      <p:sp>
        <p:nvSpPr>
          <p:cNvPr name="Freeform 10" id="10"/>
          <p:cNvSpPr/>
          <p:nvPr/>
        </p:nvSpPr>
        <p:spPr>
          <a:xfrm flipH="false" flipV="false" rot="0">
            <a:off x="11526285" y="6720443"/>
            <a:ext cx="6393247" cy="2134828"/>
          </a:xfrm>
          <a:custGeom>
            <a:avLst/>
            <a:gdLst/>
            <a:ahLst/>
            <a:cxnLst/>
            <a:rect r="r" b="b" t="t" l="l"/>
            <a:pathLst>
              <a:path h="2134828" w="6393247">
                <a:moveTo>
                  <a:pt x="0" y="0"/>
                </a:moveTo>
                <a:lnTo>
                  <a:pt x="6393247" y="0"/>
                </a:lnTo>
                <a:lnTo>
                  <a:pt x="6393247" y="2134827"/>
                </a:lnTo>
                <a:lnTo>
                  <a:pt x="0" y="2134827"/>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627697" y="1028700"/>
            <a:ext cx="8256571" cy="2630546"/>
          </a:xfrm>
          <a:custGeom>
            <a:avLst/>
            <a:gdLst/>
            <a:ahLst/>
            <a:cxnLst/>
            <a:rect r="r" b="b" t="t" l="l"/>
            <a:pathLst>
              <a:path h="2630546" w="8256571">
                <a:moveTo>
                  <a:pt x="0" y="0"/>
                </a:moveTo>
                <a:lnTo>
                  <a:pt x="8256571" y="0"/>
                </a:lnTo>
                <a:lnTo>
                  <a:pt x="8256571" y="2630546"/>
                </a:lnTo>
                <a:lnTo>
                  <a:pt x="0" y="2630546"/>
                </a:lnTo>
                <a:lnTo>
                  <a:pt x="0" y="0"/>
                </a:lnTo>
                <a:close/>
              </a:path>
            </a:pathLst>
          </a:custGeom>
          <a:blipFill>
            <a:blip r:embed="rId2"/>
            <a:stretch>
              <a:fillRect l="0" t="0" r="0" b="0"/>
            </a:stretch>
          </a:blipFill>
        </p:spPr>
      </p:sp>
      <p:sp>
        <p:nvSpPr>
          <p:cNvPr name="AutoShape 3" id="3"/>
          <p:cNvSpPr/>
          <p:nvPr/>
        </p:nvSpPr>
        <p:spPr>
          <a:xfrm>
            <a:off x="8884268" y="2310636"/>
            <a:ext cx="1450708" cy="0"/>
          </a:xfrm>
          <a:prstGeom prst="line">
            <a:avLst/>
          </a:prstGeom>
          <a:ln cap="flat" w="66675">
            <a:solidFill>
              <a:srgbClr val="FBFBFB"/>
            </a:solidFill>
            <a:prstDash val="solid"/>
            <a:headEnd type="none" len="sm" w="sm"/>
            <a:tailEnd type="triangle" len="med" w="lg"/>
          </a:ln>
        </p:spPr>
      </p:sp>
      <p:sp>
        <p:nvSpPr>
          <p:cNvPr name="Freeform 4" id="4"/>
          <p:cNvSpPr/>
          <p:nvPr/>
        </p:nvSpPr>
        <p:spPr>
          <a:xfrm flipH="false" flipV="false" rot="0">
            <a:off x="492472" y="4040717"/>
            <a:ext cx="9548377" cy="1982636"/>
          </a:xfrm>
          <a:custGeom>
            <a:avLst/>
            <a:gdLst/>
            <a:ahLst/>
            <a:cxnLst/>
            <a:rect r="r" b="b" t="t" l="l"/>
            <a:pathLst>
              <a:path h="1982636" w="9548377">
                <a:moveTo>
                  <a:pt x="0" y="0"/>
                </a:moveTo>
                <a:lnTo>
                  <a:pt x="9548377" y="0"/>
                </a:lnTo>
                <a:lnTo>
                  <a:pt x="9548377" y="1982637"/>
                </a:lnTo>
                <a:lnTo>
                  <a:pt x="0" y="1982637"/>
                </a:lnTo>
                <a:lnTo>
                  <a:pt x="0" y="0"/>
                </a:lnTo>
                <a:close/>
              </a:path>
            </a:pathLst>
          </a:custGeom>
          <a:blipFill>
            <a:blip r:embed="rId3"/>
            <a:stretch>
              <a:fillRect l="0" t="0" r="0" b="0"/>
            </a:stretch>
          </a:blipFill>
        </p:spPr>
      </p:sp>
      <p:sp>
        <p:nvSpPr>
          <p:cNvPr name="AutoShape 5" id="5"/>
          <p:cNvSpPr/>
          <p:nvPr/>
        </p:nvSpPr>
        <p:spPr>
          <a:xfrm>
            <a:off x="6000383" y="5644951"/>
            <a:ext cx="0" cy="1450708"/>
          </a:xfrm>
          <a:prstGeom prst="line">
            <a:avLst/>
          </a:prstGeom>
          <a:ln cap="flat" w="66675">
            <a:solidFill>
              <a:srgbClr val="FBFBFB"/>
            </a:solidFill>
            <a:prstDash val="solid"/>
            <a:headEnd type="none" len="sm" w="sm"/>
            <a:tailEnd type="triangle" len="med" w="lg"/>
          </a:ln>
        </p:spPr>
      </p:sp>
      <p:sp>
        <p:nvSpPr>
          <p:cNvPr name="Freeform 6" id="6"/>
          <p:cNvSpPr/>
          <p:nvPr/>
        </p:nvSpPr>
        <p:spPr>
          <a:xfrm flipH="false" flipV="false" rot="0">
            <a:off x="492472" y="7476659"/>
            <a:ext cx="12382092" cy="620967"/>
          </a:xfrm>
          <a:custGeom>
            <a:avLst/>
            <a:gdLst/>
            <a:ahLst/>
            <a:cxnLst/>
            <a:rect r="r" b="b" t="t" l="l"/>
            <a:pathLst>
              <a:path h="620967" w="12382092">
                <a:moveTo>
                  <a:pt x="0" y="0"/>
                </a:moveTo>
                <a:lnTo>
                  <a:pt x="12382092" y="0"/>
                </a:lnTo>
                <a:lnTo>
                  <a:pt x="12382092" y="620967"/>
                </a:lnTo>
                <a:lnTo>
                  <a:pt x="0" y="620967"/>
                </a:lnTo>
                <a:lnTo>
                  <a:pt x="0" y="0"/>
                </a:lnTo>
                <a:close/>
              </a:path>
            </a:pathLst>
          </a:custGeom>
          <a:blipFill>
            <a:blip r:embed="rId4"/>
            <a:stretch>
              <a:fillRect l="0" t="0" r="0" b="0"/>
            </a:stretch>
          </a:blipFill>
        </p:spPr>
      </p:sp>
      <p:sp>
        <p:nvSpPr>
          <p:cNvPr name="Freeform 7" id="7"/>
          <p:cNvSpPr/>
          <p:nvPr/>
        </p:nvSpPr>
        <p:spPr>
          <a:xfrm flipH="false" flipV="false" rot="0">
            <a:off x="10550052" y="670727"/>
            <a:ext cx="6326644" cy="3279818"/>
          </a:xfrm>
          <a:custGeom>
            <a:avLst/>
            <a:gdLst/>
            <a:ahLst/>
            <a:cxnLst/>
            <a:rect r="r" b="b" t="t" l="l"/>
            <a:pathLst>
              <a:path h="3279818" w="6326644">
                <a:moveTo>
                  <a:pt x="0" y="0"/>
                </a:moveTo>
                <a:lnTo>
                  <a:pt x="6326644" y="0"/>
                </a:lnTo>
                <a:lnTo>
                  <a:pt x="6326644" y="3279818"/>
                </a:lnTo>
                <a:lnTo>
                  <a:pt x="0" y="3279818"/>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608472" y="802768"/>
            <a:ext cx="8383918" cy="2260832"/>
          </a:xfrm>
          <a:custGeom>
            <a:avLst/>
            <a:gdLst/>
            <a:ahLst/>
            <a:cxnLst/>
            <a:rect r="r" b="b" t="t" l="l"/>
            <a:pathLst>
              <a:path h="2260832" w="8383918">
                <a:moveTo>
                  <a:pt x="0" y="0"/>
                </a:moveTo>
                <a:lnTo>
                  <a:pt x="8383918" y="0"/>
                </a:lnTo>
                <a:lnTo>
                  <a:pt x="8383918" y="2260832"/>
                </a:lnTo>
                <a:lnTo>
                  <a:pt x="0" y="2260832"/>
                </a:lnTo>
                <a:lnTo>
                  <a:pt x="0" y="0"/>
                </a:lnTo>
                <a:close/>
              </a:path>
            </a:pathLst>
          </a:custGeom>
          <a:blipFill>
            <a:blip r:embed="rId2"/>
            <a:stretch>
              <a:fillRect l="0" t="0" r="0" b="0"/>
            </a:stretch>
          </a:blipFill>
        </p:spPr>
      </p:sp>
      <p:sp>
        <p:nvSpPr>
          <p:cNvPr name="AutoShape 3" id="3"/>
          <p:cNvSpPr/>
          <p:nvPr/>
        </p:nvSpPr>
        <p:spPr>
          <a:xfrm>
            <a:off x="8884268" y="2310636"/>
            <a:ext cx="1450708" cy="0"/>
          </a:xfrm>
          <a:prstGeom prst="line">
            <a:avLst/>
          </a:prstGeom>
          <a:ln cap="flat" w="66675">
            <a:solidFill>
              <a:srgbClr val="FBFBFB"/>
            </a:solidFill>
            <a:prstDash val="solid"/>
            <a:headEnd type="none" len="sm" w="sm"/>
            <a:tailEnd type="triangle" len="med" w="lg"/>
          </a:ln>
        </p:spPr>
      </p:sp>
      <p:sp>
        <p:nvSpPr>
          <p:cNvPr name="Freeform 4" id="4"/>
          <p:cNvSpPr/>
          <p:nvPr/>
        </p:nvSpPr>
        <p:spPr>
          <a:xfrm flipH="false" flipV="false" rot="0">
            <a:off x="11232825" y="397421"/>
            <a:ext cx="2674176" cy="3647576"/>
          </a:xfrm>
          <a:custGeom>
            <a:avLst/>
            <a:gdLst/>
            <a:ahLst/>
            <a:cxnLst/>
            <a:rect r="r" b="b" t="t" l="l"/>
            <a:pathLst>
              <a:path h="3647576" w="2674176">
                <a:moveTo>
                  <a:pt x="0" y="0"/>
                </a:moveTo>
                <a:lnTo>
                  <a:pt x="2674176" y="0"/>
                </a:lnTo>
                <a:lnTo>
                  <a:pt x="2674176" y="3647576"/>
                </a:lnTo>
                <a:lnTo>
                  <a:pt x="0" y="3647576"/>
                </a:lnTo>
                <a:lnTo>
                  <a:pt x="0" y="0"/>
                </a:lnTo>
                <a:close/>
              </a:path>
            </a:pathLst>
          </a:custGeom>
          <a:blipFill>
            <a:blip r:embed="rId3"/>
            <a:stretch>
              <a:fillRect l="0" t="0" r="0" b="0"/>
            </a:stretch>
          </a:blipFill>
        </p:spPr>
      </p:sp>
      <p:sp>
        <p:nvSpPr>
          <p:cNvPr name="Freeform 5" id="5"/>
          <p:cNvSpPr/>
          <p:nvPr/>
        </p:nvSpPr>
        <p:spPr>
          <a:xfrm flipH="false" flipV="false" rot="0">
            <a:off x="608472" y="3756972"/>
            <a:ext cx="8061359" cy="2027704"/>
          </a:xfrm>
          <a:custGeom>
            <a:avLst/>
            <a:gdLst/>
            <a:ahLst/>
            <a:cxnLst/>
            <a:rect r="r" b="b" t="t" l="l"/>
            <a:pathLst>
              <a:path h="2027704" w="8061359">
                <a:moveTo>
                  <a:pt x="0" y="0"/>
                </a:moveTo>
                <a:lnTo>
                  <a:pt x="8061359" y="0"/>
                </a:lnTo>
                <a:lnTo>
                  <a:pt x="8061359" y="2027704"/>
                </a:lnTo>
                <a:lnTo>
                  <a:pt x="0" y="2027704"/>
                </a:lnTo>
                <a:lnTo>
                  <a:pt x="0" y="0"/>
                </a:lnTo>
                <a:close/>
              </a:path>
            </a:pathLst>
          </a:custGeom>
          <a:blipFill>
            <a:blip r:embed="rId4"/>
            <a:stretch>
              <a:fillRect l="0" t="0" r="0" b="0"/>
            </a:stretch>
          </a:blipFill>
        </p:spPr>
      </p:sp>
      <p:sp>
        <p:nvSpPr>
          <p:cNvPr name="AutoShape 6" id="6"/>
          <p:cNvSpPr/>
          <p:nvPr/>
        </p:nvSpPr>
        <p:spPr>
          <a:xfrm>
            <a:off x="8669831" y="5110162"/>
            <a:ext cx="1450708" cy="0"/>
          </a:xfrm>
          <a:prstGeom prst="line">
            <a:avLst/>
          </a:prstGeom>
          <a:ln cap="flat" w="66675">
            <a:solidFill>
              <a:srgbClr val="FBFBFB"/>
            </a:solidFill>
            <a:prstDash val="solid"/>
            <a:headEnd type="none" len="sm" w="sm"/>
            <a:tailEnd type="triangle" len="med" w="lg"/>
          </a:ln>
        </p:spPr>
      </p:sp>
      <p:sp>
        <p:nvSpPr>
          <p:cNvPr name="Freeform 7" id="7"/>
          <p:cNvSpPr/>
          <p:nvPr/>
        </p:nvSpPr>
        <p:spPr>
          <a:xfrm flipH="false" flipV="false" rot="0">
            <a:off x="10334976" y="4425997"/>
            <a:ext cx="6237759" cy="1149061"/>
          </a:xfrm>
          <a:custGeom>
            <a:avLst/>
            <a:gdLst/>
            <a:ahLst/>
            <a:cxnLst/>
            <a:rect r="r" b="b" t="t" l="l"/>
            <a:pathLst>
              <a:path h="1149061" w="6237759">
                <a:moveTo>
                  <a:pt x="0" y="0"/>
                </a:moveTo>
                <a:lnTo>
                  <a:pt x="6237758" y="0"/>
                </a:lnTo>
                <a:lnTo>
                  <a:pt x="6237758" y="1149060"/>
                </a:lnTo>
                <a:lnTo>
                  <a:pt x="0" y="1149060"/>
                </a:lnTo>
                <a:lnTo>
                  <a:pt x="0" y="0"/>
                </a:lnTo>
                <a:close/>
              </a:path>
            </a:pathLst>
          </a:custGeom>
          <a:blipFill>
            <a:blip r:embed="rId5"/>
            <a:stretch>
              <a:fillRect l="0" t="0" r="0" b="0"/>
            </a:stretch>
          </a:blipFill>
        </p:spPr>
      </p:sp>
      <p:sp>
        <p:nvSpPr>
          <p:cNvPr name="Freeform 8" id="8"/>
          <p:cNvSpPr/>
          <p:nvPr/>
        </p:nvSpPr>
        <p:spPr>
          <a:xfrm flipH="false" flipV="false" rot="0">
            <a:off x="516699" y="6480001"/>
            <a:ext cx="8567464" cy="3002381"/>
          </a:xfrm>
          <a:custGeom>
            <a:avLst/>
            <a:gdLst/>
            <a:ahLst/>
            <a:cxnLst/>
            <a:rect r="r" b="b" t="t" l="l"/>
            <a:pathLst>
              <a:path h="3002381" w="8567464">
                <a:moveTo>
                  <a:pt x="0" y="0"/>
                </a:moveTo>
                <a:lnTo>
                  <a:pt x="8567464" y="0"/>
                </a:lnTo>
                <a:lnTo>
                  <a:pt x="8567464" y="3002381"/>
                </a:lnTo>
                <a:lnTo>
                  <a:pt x="0" y="3002381"/>
                </a:lnTo>
                <a:lnTo>
                  <a:pt x="0" y="0"/>
                </a:lnTo>
                <a:close/>
              </a:path>
            </a:pathLst>
          </a:custGeom>
          <a:blipFill>
            <a:blip r:embed="rId6"/>
            <a:stretch>
              <a:fillRect l="0" t="0" r="0" b="0"/>
            </a:stretch>
          </a:blipFill>
        </p:spPr>
      </p:sp>
      <p:sp>
        <p:nvSpPr>
          <p:cNvPr name="AutoShape 9" id="9"/>
          <p:cNvSpPr/>
          <p:nvPr/>
        </p:nvSpPr>
        <p:spPr>
          <a:xfrm>
            <a:off x="8992390" y="7694370"/>
            <a:ext cx="1450708" cy="0"/>
          </a:xfrm>
          <a:prstGeom prst="line">
            <a:avLst/>
          </a:prstGeom>
          <a:ln cap="flat" w="66675">
            <a:solidFill>
              <a:srgbClr val="FBFBFB"/>
            </a:solidFill>
            <a:prstDash val="solid"/>
            <a:headEnd type="none" len="sm" w="sm"/>
            <a:tailEnd type="triangle" len="med" w="lg"/>
          </a:ln>
        </p:spPr>
      </p:sp>
      <p:sp>
        <p:nvSpPr>
          <p:cNvPr name="Freeform 10" id="10"/>
          <p:cNvSpPr/>
          <p:nvPr/>
        </p:nvSpPr>
        <p:spPr>
          <a:xfrm flipH="false" flipV="false" rot="0">
            <a:off x="10919080" y="5955177"/>
            <a:ext cx="5975842" cy="4052029"/>
          </a:xfrm>
          <a:custGeom>
            <a:avLst/>
            <a:gdLst/>
            <a:ahLst/>
            <a:cxnLst/>
            <a:rect r="r" b="b" t="t" l="l"/>
            <a:pathLst>
              <a:path h="4052029" w="5975842">
                <a:moveTo>
                  <a:pt x="0" y="0"/>
                </a:moveTo>
                <a:lnTo>
                  <a:pt x="5975842" y="0"/>
                </a:lnTo>
                <a:lnTo>
                  <a:pt x="5975842" y="4052029"/>
                </a:lnTo>
                <a:lnTo>
                  <a:pt x="0" y="4052029"/>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438257" y="690821"/>
            <a:ext cx="9279171" cy="1805404"/>
          </a:xfrm>
          <a:custGeom>
            <a:avLst/>
            <a:gdLst/>
            <a:ahLst/>
            <a:cxnLst/>
            <a:rect r="r" b="b" t="t" l="l"/>
            <a:pathLst>
              <a:path h="1805404" w="9279171">
                <a:moveTo>
                  <a:pt x="0" y="0"/>
                </a:moveTo>
                <a:lnTo>
                  <a:pt x="9279171" y="0"/>
                </a:lnTo>
                <a:lnTo>
                  <a:pt x="9279171" y="1805404"/>
                </a:lnTo>
                <a:lnTo>
                  <a:pt x="0" y="1805404"/>
                </a:lnTo>
                <a:lnTo>
                  <a:pt x="0" y="0"/>
                </a:lnTo>
                <a:close/>
              </a:path>
            </a:pathLst>
          </a:custGeom>
          <a:blipFill>
            <a:blip r:embed="rId2"/>
            <a:stretch>
              <a:fillRect l="0" t="0" r="0" b="0"/>
            </a:stretch>
          </a:blipFill>
        </p:spPr>
      </p:sp>
      <p:sp>
        <p:nvSpPr>
          <p:cNvPr name="AutoShape 3" id="3"/>
          <p:cNvSpPr/>
          <p:nvPr/>
        </p:nvSpPr>
        <p:spPr>
          <a:xfrm>
            <a:off x="9717428" y="1292992"/>
            <a:ext cx="1450708" cy="0"/>
          </a:xfrm>
          <a:prstGeom prst="line">
            <a:avLst/>
          </a:prstGeom>
          <a:ln cap="flat" w="66675">
            <a:solidFill>
              <a:srgbClr val="FBFBFB"/>
            </a:solidFill>
            <a:prstDash val="solid"/>
            <a:headEnd type="none" len="sm" w="sm"/>
            <a:tailEnd type="triangle" len="med" w="lg"/>
          </a:ln>
        </p:spPr>
      </p:sp>
      <p:sp>
        <p:nvSpPr>
          <p:cNvPr name="Freeform 4" id="4"/>
          <p:cNvSpPr/>
          <p:nvPr/>
        </p:nvSpPr>
        <p:spPr>
          <a:xfrm flipH="false" flipV="false" rot="0">
            <a:off x="11721608" y="771922"/>
            <a:ext cx="5177641" cy="1643204"/>
          </a:xfrm>
          <a:custGeom>
            <a:avLst/>
            <a:gdLst/>
            <a:ahLst/>
            <a:cxnLst/>
            <a:rect r="r" b="b" t="t" l="l"/>
            <a:pathLst>
              <a:path h="1643204" w="5177641">
                <a:moveTo>
                  <a:pt x="0" y="0"/>
                </a:moveTo>
                <a:lnTo>
                  <a:pt x="5177642" y="0"/>
                </a:lnTo>
                <a:lnTo>
                  <a:pt x="5177642" y="1643203"/>
                </a:lnTo>
                <a:lnTo>
                  <a:pt x="0" y="1643203"/>
                </a:lnTo>
                <a:lnTo>
                  <a:pt x="0" y="0"/>
                </a:lnTo>
                <a:close/>
              </a:path>
            </a:pathLst>
          </a:custGeom>
          <a:blipFill>
            <a:blip r:embed="rId3"/>
            <a:stretch>
              <a:fillRect l="0" t="0" r="0" b="0"/>
            </a:stretch>
          </a:blipFill>
        </p:spPr>
      </p:sp>
      <p:sp>
        <p:nvSpPr>
          <p:cNvPr name="Freeform 5" id="5"/>
          <p:cNvSpPr/>
          <p:nvPr/>
        </p:nvSpPr>
        <p:spPr>
          <a:xfrm flipH="false" flipV="false" rot="0">
            <a:off x="438257" y="3092216"/>
            <a:ext cx="9279171" cy="2584505"/>
          </a:xfrm>
          <a:custGeom>
            <a:avLst/>
            <a:gdLst/>
            <a:ahLst/>
            <a:cxnLst/>
            <a:rect r="r" b="b" t="t" l="l"/>
            <a:pathLst>
              <a:path h="2584505" w="9279171">
                <a:moveTo>
                  <a:pt x="0" y="0"/>
                </a:moveTo>
                <a:lnTo>
                  <a:pt x="9279171" y="0"/>
                </a:lnTo>
                <a:lnTo>
                  <a:pt x="9279171" y="2584505"/>
                </a:lnTo>
                <a:lnTo>
                  <a:pt x="0" y="2584505"/>
                </a:lnTo>
                <a:lnTo>
                  <a:pt x="0" y="0"/>
                </a:lnTo>
                <a:close/>
              </a:path>
            </a:pathLst>
          </a:custGeom>
          <a:blipFill>
            <a:blip r:embed="rId4"/>
            <a:stretch>
              <a:fillRect l="0" t="0" r="0" b="0"/>
            </a:stretch>
          </a:blipFill>
        </p:spPr>
      </p:sp>
      <p:sp>
        <p:nvSpPr>
          <p:cNvPr name="AutoShape 6" id="6"/>
          <p:cNvSpPr/>
          <p:nvPr/>
        </p:nvSpPr>
        <p:spPr>
          <a:xfrm>
            <a:off x="9717428" y="4351131"/>
            <a:ext cx="1450708" cy="33338"/>
          </a:xfrm>
          <a:prstGeom prst="line">
            <a:avLst/>
          </a:prstGeom>
          <a:ln cap="flat" w="66675">
            <a:solidFill>
              <a:srgbClr val="FBFBFB"/>
            </a:solidFill>
            <a:prstDash val="solid"/>
            <a:headEnd type="none" len="sm" w="sm"/>
            <a:tailEnd type="triangle" len="med" w="lg"/>
          </a:ln>
        </p:spPr>
      </p:sp>
      <p:sp>
        <p:nvSpPr>
          <p:cNvPr name="Freeform 7" id="7"/>
          <p:cNvSpPr/>
          <p:nvPr/>
        </p:nvSpPr>
        <p:spPr>
          <a:xfrm flipH="false" flipV="false" rot="0">
            <a:off x="11385469" y="2860860"/>
            <a:ext cx="5943162" cy="2984671"/>
          </a:xfrm>
          <a:custGeom>
            <a:avLst/>
            <a:gdLst/>
            <a:ahLst/>
            <a:cxnLst/>
            <a:rect r="r" b="b" t="t" l="l"/>
            <a:pathLst>
              <a:path h="2984671" w="5943162">
                <a:moveTo>
                  <a:pt x="0" y="0"/>
                </a:moveTo>
                <a:lnTo>
                  <a:pt x="5943162" y="0"/>
                </a:lnTo>
                <a:lnTo>
                  <a:pt x="5943162" y="2984671"/>
                </a:lnTo>
                <a:lnTo>
                  <a:pt x="0" y="2984671"/>
                </a:lnTo>
                <a:lnTo>
                  <a:pt x="0" y="0"/>
                </a:lnTo>
                <a:close/>
              </a:path>
            </a:pathLst>
          </a:custGeom>
          <a:blipFill>
            <a:blip r:embed="rId5"/>
            <a:stretch>
              <a:fillRect l="0" t="0" r="0" b="0"/>
            </a:stretch>
          </a:blipFill>
        </p:spPr>
      </p:sp>
      <p:sp>
        <p:nvSpPr>
          <p:cNvPr name="Freeform 8" id="8"/>
          <p:cNvSpPr/>
          <p:nvPr/>
        </p:nvSpPr>
        <p:spPr>
          <a:xfrm flipH="false" flipV="false" rot="0">
            <a:off x="519296" y="6477860"/>
            <a:ext cx="8624704" cy="2391621"/>
          </a:xfrm>
          <a:custGeom>
            <a:avLst/>
            <a:gdLst/>
            <a:ahLst/>
            <a:cxnLst/>
            <a:rect r="r" b="b" t="t" l="l"/>
            <a:pathLst>
              <a:path h="2391621" w="8624704">
                <a:moveTo>
                  <a:pt x="0" y="0"/>
                </a:moveTo>
                <a:lnTo>
                  <a:pt x="8624704" y="0"/>
                </a:lnTo>
                <a:lnTo>
                  <a:pt x="8624704" y="2391620"/>
                </a:lnTo>
                <a:lnTo>
                  <a:pt x="0" y="2391620"/>
                </a:lnTo>
                <a:lnTo>
                  <a:pt x="0" y="0"/>
                </a:lnTo>
                <a:close/>
              </a:path>
            </a:pathLst>
          </a:custGeom>
          <a:blipFill>
            <a:blip r:embed="rId6"/>
            <a:stretch>
              <a:fillRect l="0" t="0" r="0" b="0"/>
            </a:stretch>
          </a:blipFill>
        </p:spPr>
      </p:sp>
      <p:sp>
        <p:nvSpPr>
          <p:cNvPr name="AutoShape 9" id="9"/>
          <p:cNvSpPr/>
          <p:nvPr/>
        </p:nvSpPr>
        <p:spPr>
          <a:xfrm>
            <a:off x="8992074" y="7707008"/>
            <a:ext cx="1450708" cy="0"/>
          </a:xfrm>
          <a:prstGeom prst="line">
            <a:avLst/>
          </a:prstGeom>
          <a:ln cap="flat" w="66675">
            <a:solidFill>
              <a:srgbClr val="FBFBFB"/>
            </a:solidFill>
            <a:prstDash val="solid"/>
            <a:headEnd type="none" len="sm" w="sm"/>
            <a:tailEnd type="triangle" len="med" w="lg"/>
          </a:ln>
        </p:spPr>
      </p:sp>
      <p:sp>
        <p:nvSpPr>
          <p:cNvPr name="Freeform 10" id="10"/>
          <p:cNvSpPr/>
          <p:nvPr/>
        </p:nvSpPr>
        <p:spPr>
          <a:xfrm flipH="false" flipV="false" rot="0">
            <a:off x="11721608" y="6293206"/>
            <a:ext cx="3450192" cy="3566610"/>
          </a:xfrm>
          <a:custGeom>
            <a:avLst/>
            <a:gdLst/>
            <a:ahLst/>
            <a:cxnLst/>
            <a:rect r="r" b="b" t="t" l="l"/>
            <a:pathLst>
              <a:path h="3566610" w="3450192">
                <a:moveTo>
                  <a:pt x="0" y="0"/>
                </a:moveTo>
                <a:lnTo>
                  <a:pt x="3450193" y="0"/>
                </a:lnTo>
                <a:lnTo>
                  <a:pt x="3450193" y="3566610"/>
                </a:lnTo>
                <a:lnTo>
                  <a:pt x="0" y="3566610"/>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0F172A"/>
        </a:solidFill>
      </p:bgPr>
    </p:bg>
    <p:spTree>
      <p:nvGrpSpPr>
        <p:cNvPr id="1" name=""/>
        <p:cNvGrpSpPr/>
        <p:nvPr/>
      </p:nvGrpSpPr>
      <p:grpSpPr>
        <a:xfrm>
          <a:off x="0" y="0"/>
          <a:ext cx="0" cy="0"/>
          <a:chOff x="0" y="0"/>
          <a:chExt cx="0" cy="0"/>
        </a:xfrm>
      </p:grpSpPr>
      <p:sp>
        <p:nvSpPr>
          <p:cNvPr name="TextBox 2" id="2"/>
          <p:cNvSpPr txBox="true"/>
          <p:nvPr/>
        </p:nvSpPr>
        <p:spPr>
          <a:xfrm rot="0">
            <a:off x="6815001" y="497424"/>
            <a:ext cx="5956454" cy="531276"/>
          </a:xfrm>
          <a:prstGeom prst="rect">
            <a:avLst/>
          </a:prstGeom>
        </p:spPr>
        <p:txBody>
          <a:bodyPr anchor="t" rtlCol="false" tIns="0" lIns="0" bIns="0" rIns="0">
            <a:spAutoFit/>
          </a:bodyPr>
          <a:lstStyle/>
          <a:p>
            <a:pPr algn="l">
              <a:lnSpc>
                <a:spcPts val="4477"/>
              </a:lnSpc>
            </a:pPr>
            <a:r>
              <a:rPr lang="en-US" sz="3025" spc="701">
                <a:solidFill>
                  <a:srgbClr val="FFFFFF"/>
                </a:solidFill>
                <a:latin typeface="Montserrat"/>
                <a:ea typeface="Montserrat"/>
                <a:cs typeface="Montserrat"/>
                <a:sym typeface="Montserrat"/>
              </a:rPr>
              <a:t>KEY FINDINGS</a:t>
            </a:r>
          </a:p>
        </p:txBody>
      </p:sp>
      <p:sp>
        <p:nvSpPr>
          <p:cNvPr name="TextBox 3" id="3"/>
          <p:cNvSpPr txBox="true"/>
          <p:nvPr/>
        </p:nvSpPr>
        <p:spPr>
          <a:xfrm rot="0">
            <a:off x="2161372" y="1991486"/>
            <a:ext cx="13183326" cy="6338631"/>
          </a:xfrm>
          <a:prstGeom prst="rect">
            <a:avLst/>
          </a:prstGeom>
        </p:spPr>
        <p:txBody>
          <a:bodyPr anchor="t" rtlCol="false" tIns="0" lIns="0" bIns="0" rIns="0">
            <a:spAutoFit/>
          </a:bodyPr>
          <a:lstStyle/>
          <a:p>
            <a:pPr algn="ctr">
              <a:lnSpc>
                <a:spcPts val="5033"/>
              </a:lnSpc>
              <a:spcBef>
                <a:spcPct val="0"/>
              </a:spcBef>
            </a:pPr>
            <a:r>
              <a:rPr lang="en-US" sz="3400" spc="789">
                <a:solidFill>
                  <a:srgbClr val="FFFFFF"/>
                </a:solidFill>
                <a:latin typeface="Montserrat"/>
                <a:ea typeface="Montserrat"/>
                <a:cs typeface="Montserrat"/>
                <a:sym typeface="Montserrat"/>
              </a:rPr>
              <a:t>MAJOR OBSERVATIONS</a:t>
            </a:r>
          </a:p>
          <a:p>
            <a:pPr algn="ctr">
              <a:lnSpc>
                <a:spcPts val="5033"/>
              </a:lnSpc>
              <a:spcBef>
                <a:spcPct val="0"/>
              </a:spcBef>
            </a:pPr>
            <a:r>
              <a:rPr lang="en-US" sz="3400" spc="789">
                <a:solidFill>
                  <a:srgbClr val="FFFFFF"/>
                </a:solidFill>
                <a:latin typeface="Times New Roman MT"/>
                <a:ea typeface="Times New Roman MT"/>
                <a:cs typeface="Times New Roman MT"/>
                <a:sym typeface="Times New Roman MT"/>
              </a:rPr>
              <a:t>-&gt;</a:t>
            </a:r>
            <a:r>
              <a:rPr lang="en-US" sz="3400" spc="789">
                <a:solidFill>
                  <a:srgbClr val="FFFFFF"/>
                </a:solidFill>
                <a:latin typeface="Times New Roman MT"/>
                <a:ea typeface="Times New Roman MT"/>
                <a:cs typeface="Times New Roman MT"/>
                <a:sym typeface="Times New Roman MT"/>
              </a:rPr>
              <a:t>States with highest confirmed cases were identified.</a:t>
            </a:r>
          </a:p>
          <a:p>
            <a:pPr algn="ctr">
              <a:lnSpc>
                <a:spcPts val="5033"/>
              </a:lnSpc>
              <a:spcBef>
                <a:spcPct val="0"/>
              </a:spcBef>
            </a:pPr>
            <a:r>
              <a:rPr lang="en-US" sz="3400" spc="789">
                <a:solidFill>
                  <a:srgbClr val="FFFFFF"/>
                </a:solidFill>
                <a:latin typeface="Times New Roman MT"/>
                <a:ea typeface="Times New Roman MT"/>
                <a:cs typeface="Times New Roman MT"/>
                <a:sym typeface="Times New Roman MT"/>
              </a:rPr>
              <a:t>-&gt;Recovery rates varied significantly across states. </a:t>
            </a:r>
          </a:p>
          <a:p>
            <a:pPr algn="ctr">
              <a:lnSpc>
                <a:spcPts val="5033"/>
              </a:lnSpc>
              <a:spcBef>
                <a:spcPct val="0"/>
              </a:spcBef>
            </a:pPr>
            <a:r>
              <a:rPr lang="en-US" sz="3400" spc="789">
                <a:solidFill>
                  <a:srgbClr val="FFFFFF"/>
                </a:solidFill>
                <a:latin typeface="Times New Roman MT"/>
                <a:ea typeface="Times New Roman MT"/>
                <a:cs typeface="Times New Roman MT"/>
                <a:sym typeface="Times New Roman MT"/>
              </a:rPr>
              <a:t>-&gt;Some states maintained lower death rates.</a:t>
            </a:r>
          </a:p>
          <a:p>
            <a:pPr algn="ctr">
              <a:lnSpc>
                <a:spcPts val="5033"/>
              </a:lnSpc>
              <a:spcBef>
                <a:spcPct val="0"/>
              </a:spcBef>
            </a:pPr>
            <a:r>
              <a:rPr lang="en-US" sz="3400" spc="789">
                <a:solidFill>
                  <a:srgbClr val="FFFFFF"/>
                </a:solidFill>
                <a:latin typeface="Times New Roman MT"/>
                <a:ea typeface="Times New Roman MT"/>
                <a:cs typeface="Times New Roman MT"/>
                <a:sym typeface="Times New Roman MT"/>
              </a:rPr>
              <a:t>-&gt;Daily case trends showed pandemic growth patterns.</a:t>
            </a:r>
          </a:p>
          <a:p>
            <a:pPr algn="ctr">
              <a:lnSpc>
                <a:spcPts val="5033"/>
              </a:lnSpc>
              <a:spcBef>
                <a:spcPct val="0"/>
              </a:spcBef>
            </a:pPr>
            <a:r>
              <a:rPr lang="en-US" sz="3400" spc="789">
                <a:solidFill>
                  <a:srgbClr val="FFFFFF"/>
                </a:solidFill>
                <a:latin typeface="Times New Roman MT"/>
                <a:ea typeface="Times New Roman MT"/>
                <a:cs typeface="Times New Roman MT"/>
                <a:sym typeface="Times New Roman MT"/>
              </a:rPr>
              <a:t>-&gt;Window functions provided cumulative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F172A"/>
        </a:solidFill>
      </p:bgPr>
    </p:bg>
    <p:spTree>
      <p:nvGrpSpPr>
        <p:cNvPr id="1" name=""/>
        <p:cNvGrpSpPr/>
        <p:nvPr/>
      </p:nvGrpSpPr>
      <p:grpSpPr>
        <a:xfrm>
          <a:off x="0" y="0"/>
          <a:ext cx="0" cy="0"/>
          <a:chOff x="0" y="0"/>
          <a:chExt cx="0" cy="0"/>
        </a:xfrm>
      </p:grpSpPr>
      <p:sp>
        <p:nvSpPr>
          <p:cNvPr name="Freeform 2" id="2"/>
          <p:cNvSpPr/>
          <p:nvPr/>
        </p:nvSpPr>
        <p:spPr>
          <a:xfrm flipH="false" flipV="false" rot="0">
            <a:off x="6468984" y="4157348"/>
            <a:ext cx="5048207" cy="4789325"/>
          </a:xfrm>
          <a:custGeom>
            <a:avLst/>
            <a:gdLst/>
            <a:ahLst/>
            <a:cxnLst/>
            <a:rect r="r" b="b" t="t" l="l"/>
            <a:pathLst>
              <a:path h="4789325" w="5048207">
                <a:moveTo>
                  <a:pt x="0" y="0"/>
                </a:moveTo>
                <a:lnTo>
                  <a:pt x="5048208" y="0"/>
                </a:lnTo>
                <a:lnTo>
                  <a:pt x="5048208" y="4789325"/>
                </a:lnTo>
                <a:lnTo>
                  <a:pt x="0" y="4789325"/>
                </a:lnTo>
                <a:lnTo>
                  <a:pt x="0" y="0"/>
                </a:lnTo>
                <a:close/>
              </a:path>
            </a:pathLst>
          </a:custGeom>
          <a:blipFill>
            <a:blip r:embed="rId2"/>
            <a:stretch>
              <a:fillRect l="0" t="0" r="0" b="0"/>
            </a:stretch>
          </a:blipFill>
        </p:spPr>
      </p:sp>
      <p:sp>
        <p:nvSpPr>
          <p:cNvPr name="TextBox 3" id="3"/>
          <p:cNvSpPr txBox="true"/>
          <p:nvPr/>
        </p:nvSpPr>
        <p:spPr>
          <a:xfrm rot="0">
            <a:off x="724476" y="590847"/>
            <a:ext cx="16839049" cy="3350582"/>
          </a:xfrm>
          <a:prstGeom prst="rect">
            <a:avLst/>
          </a:prstGeom>
        </p:spPr>
        <p:txBody>
          <a:bodyPr anchor="t" rtlCol="false" tIns="0" lIns="0" bIns="0" rIns="0">
            <a:spAutoFit/>
          </a:bodyPr>
          <a:lstStyle/>
          <a:p>
            <a:pPr algn="ctr">
              <a:lnSpc>
                <a:spcPts val="4431"/>
              </a:lnSpc>
              <a:spcBef>
                <a:spcPct val="0"/>
              </a:spcBef>
            </a:pPr>
            <a:r>
              <a:rPr lang="en-US" sz="2994" spc="694">
                <a:solidFill>
                  <a:srgbClr val="FFFFFF"/>
                </a:solidFill>
                <a:latin typeface="Montserrat"/>
                <a:ea typeface="Montserrat"/>
                <a:cs typeface="Montserrat"/>
                <a:sym typeface="Montserrat"/>
              </a:rPr>
              <a:t>C</a:t>
            </a:r>
            <a:r>
              <a:rPr lang="en-US" sz="2994" spc="694">
                <a:solidFill>
                  <a:srgbClr val="FFFFFF"/>
                </a:solidFill>
                <a:latin typeface="Montserrat"/>
                <a:ea typeface="Montserrat"/>
                <a:cs typeface="Montserrat"/>
                <a:sym typeface="Montserrat"/>
              </a:rPr>
              <a:t>ONCLUSION</a:t>
            </a:r>
          </a:p>
          <a:p>
            <a:pPr algn="ctr">
              <a:lnSpc>
                <a:spcPts val="4431"/>
              </a:lnSpc>
              <a:spcBef>
                <a:spcPct val="0"/>
              </a:spcBef>
            </a:pPr>
            <a:r>
              <a:rPr lang="en-US" sz="2994" spc="694">
                <a:solidFill>
                  <a:srgbClr val="FFFFFF"/>
                </a:solidFill>
                <a:latin typeface="Montserrat"/>
                <a:ea typeface="Montserrat"/>
                <a:cs typeface="Montserrat"/>
                <a:sym typeface="Montserrat"/>
              </a:rPr>
              <a:t>T</a:t>
            </a:r>
            <a:r>
              <a:rPr lang="en-US" sz="2994" spc="694">
                <a:solidFill>
                  <a:srgbClr val="FFFFFF"/>
                </a:solidFill>
                <a:latin typeface="Montserrat"/>
                <a:ea typeface="Montserrat"/>
                <a:cs typeface="Montserrat"/>
                <a:sym typeface="Montserrat"/>
              </a:rPr>
              <a:t>his project demonstrates how SQL can transform raw COVID-19 data into meaningful insights. By using aggregate functions, grouping, filtering, and window functions, important trends and statistics were identified.</a:t>
            </a:r>
          </a:p>
          <a:p>
            <a:pPr algn="ctr">
              <a:lnSpc>
                <a:spcPts val="4431"/>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DAHC9h0X8cE</dc:identifier>
  <dcterms:modified xsi:type="dcterms:W3CDTF">2011-08-01T06:04:30Z</dcterms:modified>
  <cp:revision>1</cp:revision>
  <dc:title>my sql project</dc:title>
</cp:coreProperties>
</file>